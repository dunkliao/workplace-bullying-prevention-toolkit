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5184648" y="1280160"/>
            <a:ext cx="1828800" cy="1828800"/>
          </a:xfrm>
          <a:prstGeom prst="ellipse">
            <a:avLst/>
          </a:prstGeom>
          <a:solidFill>
            <a:srgbClr val="2E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cs typeface="微軟正黑體"/>
              </a:rPr>
              <a:t>◆
友善職場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ea typeface="微軟正黑體"/>
                <a:cs typeface="微軟正黑體"/>
              </a:rPr>
              <a:t>職場霸凌防治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ea typeface="微軟正黑體"/>
                <a:cs typeface="微軟正黑體"/>
              </a:rPr>
              <a:t>教育訓練簡報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ea typeface="微軟正黑體"/>
                <a:cs typeface="微軟正黑體"/>
              </a:rPr>
              <a:t>依《職業安全衛生法》第二章之一辦理</a:t>
            </a:r>
          </a:p>
          <a:p>
            <a:pPr algn="ctr"/>
            <a:r>
              <a:rPr sz="1600" b="0">
                <a:solidFill>
                  <a:srgbClr val="FFFFFF"/>
                </a:solidFill>
                <a:ea typeface="微軟正黑體"/>
                <a:cs typeface="微軟正黑體"/>
              </a:rPr>
              <a:t>2026 年 7 月 1 日正式施行</a:t>
            </a:r>
          </a:p>
          <a:p>
            <a:pPr algn="ctr"/>
            <a:r>
              <a:rPr sz="1600" b="0">
                <a:solidFill>
                  <a:srgbClr val="FFFFFF"/>
                </a:solidFill>
                <a:ea typeface="微軟正黑體"/>
                <a:cs typeface="微軟正黑體"/>
              </a:rPr>
              <a:t>課程時數：3 小時（含案例研討）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ea typeface="微軟正黑體"/>
                <a:cs typeface="微軟正黑體"/>
              </a:rPr>
              <a:t>○○商業銀行 ｜ 人力資源處／法令遵循處 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本日課程議程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2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9144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344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ea typeface="微軟正黑體"/>
                <a:cs typeface="微軟正黑體"/>
              </a:rPr>
              <a:t>法規體系與重點修法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2344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600" b="0">
                <a:solidFill>
                  <a:srgbClr val="595959"/>
                </a:solidFill>
                <a:ea typeface="微軟正黑體"/>
                <a:cs typeface="微軟正黑體"/>
              </a:rPr>
              <a:t>30 分鐘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9144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57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ea typeface="微軟正黑體"/>
                <a:cs typeface="微軟正黑體"/>
              </a:rPr>
              <a:t>職場霸凌定義與認定原則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0574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600" b="0">
                <a:solidFill>
                  <a:srgbClr val="595959"/>
                </a:solidFill>
                <a:ea typeface="微軟正黑體"/>
                <a:cs typeface="微軟正黑體"/>
              </a:rPr>
              <a:t>30 分鐘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9144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803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ea typeface="微軟正黑體"/>
                <a:cs typeface="微軟正黑體"/>
              </a:rPr>
              <a:t>雇主防治義務與內部制度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600" b="0">
                <a:solidFill>
                  <a:srgbClr val="595959"/>
                </a:solidFill>
                <a:ea typeface="微軟正黑體"/>
                <a:cs typeface="微軟正黑體"/>
              </a:rPr>
              <a:t>30 分鐘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9144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cs typeface="微軟正黑體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ea typeface="微軟正黑體"/>
                <a:cs typeface="微軟正黑體"/>
              </a:rPr>
              <a:t>申訴調查處理程序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7033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600" b="0">
                <a:solidFill>
                  <a:srgbClr val="595959"/>
                </a:solidFill>
                <a:ea typeface="微軟正黑體"/>
                <a:cs typeface="微軟正黑體"/>
              </a:rPr>
              <a:t>45 分鐘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9144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cs typeface="微軟正黑體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262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ea typeface="微軟正黑體"/>
                <a:cs typeface="微軟正黑體"/>
              </a:rPr>
              <a:t>申復與懲處機制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5262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600" b="0">
                <a:solidFill>
                  <a:srgbClr val="595959"/>
                </a:solidFill>
                <a:ea typeface="微軟正黑體"/>
                <a:cs typeface="微軟正黑體"/>
              </a:rPr>
              <a:t>15 分鐘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9144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cs typeface="微軟正黑體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349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ea typeface="微軟正黑體"/>
                <a:cs typeface="微軟正黑體"/>
              </a:rPr>
              <a:t>案例研討與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53492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r"/>
            <a:r>
              <a:rPr sz="1600" b="0">
                <a:solidFill>
                  <a:srgbClr val="595959"/>
                </a:solidFill>
                <a:ea typeface="微軟正黑體"/>
                <a:cs typeface="微軟正黑體"/>
              </a:rPr>
              <a:t>30 分鐘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ea typeface="微軟正黑體"/>
                <a:cs typeface="微軟正黑體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ea typeface="微軟正黑體"/>
                <a:cs typeface="微軟正黑體"/>
              </a:rPr>
              <a:t>法規體系與重點修法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新法要解決的 4 大問題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4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743200" cy="3200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⚠</a:t>
            </a:r>
          </a:p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缺乏</a:t>
            </a:r>
          </a:p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法律定義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743200" cy="3200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⚠</a:t>
            </a:r>
          </a:p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雇主吃案</a:t>
            </a:r>
          </a:p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消極不處理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743200" cy="3200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⚠</a:t>
            </a:r>
          </a:p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缺乏客觀公正</a:t>
            </a:r>
          </a:p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調查程序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743200" cy="3200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⚠</a:t>
            </a:r>
          </a:p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最高負責人霸凌</a:t>
            </a:r>
          </a:p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無外部救濟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ea typeface="微軟正黑體"/>
                <a:cs typeface="微軟正黑體"/>
              </a:rPr>
              <a:t>資料來源：勞動部「防治職場霸凌新法及配套措施說明記者會」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完整法規體系架構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5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54864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職業安全衛生法（114.12.19 修正，115.7.1 施行）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240280" cy="109728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§22-1</a:t>
            </a:r>
          </a:p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定義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2194560"/>
            <a:ext cx="2240280" cy="109728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§22-2</a:t>
            </a:r>
          </a:p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雇主義務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2194560"/>
            <a:ext cx="2240280" cy="109728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§22-3</a:t>
            </a:r>
          </a:p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最高負責人</a:t>
            </a:r>
          </a:p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外部申訴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0064" y="2194560"/>
            <a:ext cx="2240280" cy="109728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§22-4</a:t>
            </a:r>
          </a:p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申訴調查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74352" y="2194560"/>
            <a:ext cx="2240280" cy="109728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§22-5</a:t>
            </a:r>
          </a:p>
          <a:p>
            <a:pPr algn="ctr"/>
            <a:r>
              <a:rPr sz="1300" b="1">
                <a:solidFill>
                  <a:srgbClr val="1F4E79"/>
                </a:solidFill>
                <a:ea typeface="微軟正黑體"/>
                <a:cs typeface="微軟正黑體"/>
              </a:rPr>
              <a:t>罰則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◆ 配套法規與工具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2743200" cy="137160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職場霸凌防治措施準則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4023360"/>
            <a:ext cx="2743200" cy="1371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地方主管機關受理最高負責人</a:t>
            </a:r>
          </a:p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申訴處理辦法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023360"/>
            <a:ext cx="2743200" cy="1371600"/>
          </a:xfrm>
          <a:prstGeom prst="roundRect">
            <a:avLst/>
          </a:prstGeom>
          <a:solidFill>
            <a:srgbClr val="7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調查專業人才庫</a:t>
            </a:r>
          </a:p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建置要點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4023360"/>
            <a:ext cx="2743200" cy="1371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指導手冊</a:t>
            </a:r>
          </a:p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（含 16 項範本）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新制 5 大修法重點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6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2402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240280" cy="274320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明確職場霸凌</a:t>
            </a:r>
          </a:p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定義及認定原則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1371600"/>
            <a:ext cx="22402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2194560"/>
            <a:ext cx="2240280" cy="274320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依事業單位規模</a:t>
            </a:r>
          </a:p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訂定不同防治措施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371600"/>
            <a:ext cx="22402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2194560"/>
            <a:ext cx="2240280" cy="274320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建立內部申訴、調查、</a:t>
            </a:r>
          </a:p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處理及申復程序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0064" y="1371600"/>
            <a:ext cx="22402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0064" y="2194560"/>
            <a:ext cx="2240280" cy="274320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申訴案件及結果</a:t>
            </a:r>
          </a:p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登錄勞動部指定系統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74352" y="1371600"/>
            <a:ext cx="22402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ea typeface="微軟正黑體"/>
                <a:cs typeface="微軟正黑體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74352" y="2194560"/>
            <a:ext cx="2240280" cy="274320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建立最高負責人</a:t>
            </a:r>
          </a:p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外部申訴調查處理機制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ea typeface="微軟正黑體"/>
                <a:cs typeface="微軟正黑體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ea typeface="微軟正黑體"/>
                <a:cs typeface="微軟正黑體"/>
              </a:rPr>
              <a:t>職場霸凌定義與認定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什麼是職場霸凌？（職安法 §22-1）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8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1F4E79"/>
            </a:solidFill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700" b="0">
                <a:solidFill>
                  <a:srgbClr val="1F4E79"/>
                </a:solidFill>
                <a:ea typeface="微軟正黑體"/>
                <a:cs typeface="微軟正黑體"/>
              </a:rPr>
              <a:t>勞工於勞動場所執行職務，因事業單位人員利用職務或權勢等關係，</a:t>
            </a:r>
          </a:p>
          <a:p>
            <a:pPr algn="ctr"/>
            <a:r>
              <a:rPr sz="1700" b="0">
                <a:solidFill>
                  <a:srgbClr val="1F4E79"/>
                </a:solidFill>
                <a:ea typeface="微軟正黑體"/>
                <a:cs typeface="微軟正黑體"/>
              </a:rPr>
              <a:t>逾越業務上必要且合理範圍，持續以冒犯、威脅、冷落、孤立、侮辱</a:t>
            </a:r>
          </a:p>
          <a:p>
            <a:pPr algn="ctr"/>
            <a:r>
              <a:rPr sz="1700" b="0">
                <a:solidFill>
                  <a:srgbClr val="1F4E79"/>
                </a:solidFill>
                <a:ea typeface="微軟正黑體"/>
                <a:cs typeface="微軟正黑體"/>
              </a:rPr>
              <a:t>或其他不當之言詞或行為，致其身心健康遭受危害。</a:t>
            </a:r>
          </a:p>
          <a:p>
            <a:pPr algn="ctr"/>
            <a:r>
              <a:rPr sz="1700" b="0">
                <a:solidFill>
                  <a:srgbClr val="1F4E79"/>
                </a:solidFill>
                <a:ea typeface="微軟正黑體"/>
                <a:cs typeface="微軟正黑體"/>
              </a:rPr>
              <a:t>但情節重大者，不以持續發生為必要。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ea typeface="微軟正黑體"/>
                <a:cs typeface="微軟正黑體"/>
              </a:rPr>
              <a:t>◆ 5 大構成要件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2240280" cy="12801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勞動場所</a:t>
            </a:r>
          </a:p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執行職務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3840480"/>
            <a:ext cx="2240280" cy="12801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同事業單位</a:t>
            </a:r>
          </a:p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人員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3840480"/>
            <a:ext cx="2240280" cy="12801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利用職務或</a:t>
            </a:r>
          </a:p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權勢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0064" y="3840480"/>
            <a:ext cx="2240280" cy="12801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逾越必要</a:t>
            </a:r>
          </a:p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合理範圍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3840480"/>
            <a:ext cx="2240280" cy="12801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持續性／</a:t>
            </a:r>
          </a:p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情節重大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認定原則：4 大行為樣態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9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440680" cy="6400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╳ 社交排斥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44068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C00000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刻意排擠、忽視、不讓參與重要會議。</a:t>
            </a:r>
          </a:p>
          <a:p>
            <a:pPr algn="l"/>
            <a:endParaRPr sz="1500" b="0">
              <a:solidFill>
                <a:srgbClr val="101010"/>
              </a:solidFill>
              <a:ea typeface="微軟正黑體"/>
              <a:cs typeface="微軟正黑體"/>
            </a:endParaRP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例：主管故意不把員工加入工作群組。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44068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◈ 職務干預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74519"/>
            <a:ext cx="544068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ED7D31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刻意阻礙工作、刁難、隱瞞或提供不實資訊。</a:t>
            </a:r>
          </a:p>
          <a:p>
            <a:pPr algn="l"/>
            <a:endParaRPr sz="1500" b="0">
              <a:solidFill>
                <a:srgbClr val="101010"/>
              </a:solidFill>
              <a:ea typeface="微軟正黑體"/>
              <a:cs typeface="微軟正黑體"/>
            </a:endParaRP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例：分派工作但同時封鎖系統權限。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440680" cy="640080"/>
          </a:xfrm>
          <a:prstGeom prst="roundRect">
            <a:avLst/>
          </a:prstGeom>
          <a:solidFill>
            <a:srgbClr val="7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★ 權力濫用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544068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7B4FA0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要求過高（時間/能力）或大材小用。</a:t>
            </a:r>
          </a:p>
          <a:p>
            <a:pPr algn="l"/>
            <a:endParaRPr sz="1500" b="0">
              <a:solidFill>
                <a:srgbClr val="101010"/>
              </a:solidFill>
              <a:ea typeface="微軟正黑體"/>
              <a:cs typeface="微軟正黑體"/>
            </a:endParaRP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例：要求未學德文工程師用德文談合約。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931920"/>
            <a:ext cx="5440680" cy="64008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● 名譽侵害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617720"/>
            <a:ext cx="544068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548235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散布謠言、揭露隱私。</a:t>
            </a:r>
          </a:p>
          <a:p>
            <a:pPr algn="l"/>
            <a:endParaRPr sz="1500" b="0">
              <a:solidFill>
                <a:srgbClr val="101010"/>
              </a:solidFill>
              <a:ea typeface="微軟正黑體"/>
              <a:cs typeface="微軟正黑體"/>
            </a:endParaRP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例：散布不實負面訊息破壞升遷。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職場霸凌 vs 職場不法侵害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10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4864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職場霸凌（職安法 §22-1）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0" cy="3200400"/>
          </a:xfrm>
          <a:prstGeom prst="rect">
            <a:avLst/>
          </a:prstGeom>
          <a:solidFill>
            <a:srgbClr val="DAE6F2"/>
          </a:solidFill>
          <a:ln w="9525">
            <a:solidFill>
              <a:srgbClr val="1F4E79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同一事業單位人員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利用職務或權勢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持續發生 或 情節重大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優先適用霸凌防治專章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雇主應建立完整防治、申訴、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　 調查、申復、懲處制度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486400" cy="7315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職場不法侵害（職安法 §6 II 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5486400" cy="3200400"/>
          </a:xfrm>
          <a:prstGeom prst="rect">
            <a:avLst/>
          </a:prstGeom>
          <a:solidFill>
            <a:srgbClr val="FCE4D6"/>
          </a:solidFill>
          <a:ln w="9525">
            <a:solidFill>
              <a:srgbClr val="ED7D31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外部第三方（如顧客辱罵推擠）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內部單次、偶發性衝突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尚未符合霸凌定義但仍屬侵害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適用職安法第 6 條第 2 項第 3 款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雇主應建立預防、申訴、調查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　 機制及保護措施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127729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雇主防治措施：事前建立預防／申訴／調查機制 + 知悉後立即釐清保護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ea typeface="微軟正黑體"/>
                <a:cs typeface="微軟正黑體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ea typeface="微軟正黑體"/>
                <a:cs typeface="微軟正黑體"/>
              </a:rPr>
              <a:t>雇主防治義務與內部制度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依事業單位規模採行不同防治措施（準則 §4-§6）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12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ea typeface="微軟正黑體"/>
                          <a:cs typeface="微軟正黑體"/>
                        </a:rPr>
                        <a:t>事業單位規模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ea typeface="微軟正黑體"/>
                          <a:cs typeface="微軟正黑體"/>
                        </a:rPr>
                        <a:t>法定應辦事項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010"/>
                          </a:solidFill>
                          <a:ea typeface="微軟正黑體"/>
                          <a:cs typeface="微軟正黑體"/>
                        </a:rPr>
                        <a:t>未達 10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010"/>
                          </a:solidFill>
                          <a:ea typeface="微軟正黑體"/>
                          <a:cs typeface="微軟正黑體"/>
                        </a:rPr>
                        <a:t>採取預防措施 + 對被霸凌勞工有效適當措施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010"/>
                          </a:solidFill>
                          <a:ea typeface="微軟正黑體"/>
                          <a:cs typeface="微軟正黑體"/>
                        </a:rPr>
                        <a:t>10 ~ 29 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010"/>
                          </a:solidFill>
                          <a:ea typeface="微軟正黑體"/>
                          <a:cs typeface="微軟正黑體"/>
                        </a:rPr>
                        <a:t>＋ 訂定申訴管道（電子信箱／專線／傳真等）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010"/>
                          </a:solidFill>
                          <a:ea typeface="微軟正黑體"/>
                          <a:cs typeface="微軟正黑體"/>
                        </a:rPr>
                        <a:t>30 ~ 99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010"/>
                          </a:solidFill>
                          <a:ea typeface="微軟正黑體"/>
                          <a:cs typeface="微軟正黑體"/>
                        </a:rPr>
                        <a:t>＋ 訂定防治措施、申訴及懲戒處理規範＋ 設置申訴處理單位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83E2E"/>
                          </a:solidFill>
                          <a:ea typeface="微軟正黑體"/>
                          <a:cs typeface="微軟正黑體"/>
                        </a:rPr>
                        <a:t>100 人以上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01010"/>
                          </a:solidFill>
                          <a:ea typeface="微軟正黑體"/>
                          <a:cs typeface="微軟正黑體"/>
                        </a:rPr>
                        <a:t>＋ 組成調查小組（外部專業≥1/2）＋ 申復調查小組（外部≥2/3）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A83E2E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>
                <a:solidFill>
                  <a:srgbClr val="A83E2E"/>
                </a:solidFill>
                <a:ea typeface="微軟正黑體"/>
                <a:cs typeface="微軟正黑體"/>
              </a:rPr>
              <a:t>※ 本行屬「100 人以上」事業單位，須建置完整制度（含申訴處理單位、調查小組、申復調查小組）。</a:t>
            </a:r>
          </a:p>
          <a:p>
            <a:pPr algn="l"/>
            <a:r>
              <a:rPr sz="1400" b="1">
                <a:solidFill>
                  <a:srgbClr val="A83E2E"/>
                </a:solidFill>
                <a:ea typeface="微軟正黑體"/>
                <a:cs typeface="微軟正黑體"/>
              </a:rPr>
              <a:t>※ 各分行如具獨立人事、財務及管轄權，可個別獨立計算勞工人數（QA Q5）。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人員組成法定要求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13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49039" cy="10972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申訴處理單位</a:t>
            </a:r>
          </a:p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（準則 §9）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749039" cy="3200400"/>
          </a:xfrm>
          <a:prstGeom prst="rect">
            <a:avLst/>
          </a:prstGeom>
          <a:solidFill>
            <a:srgbClr val="DAE6F2"/>
          </a:solidFill>
          <a:ln w="9525">
            <a:solidFill>
              <a:srgbClr val="1F4E79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成員 ≥ 3 人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任一性別比例 ≥ 1/3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得邀外部專業人士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受理／審議／申復皆由此單位辦理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188720"/>
            <a:ext cx="3749039" cy="109728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調查小組</a:t>
            </a:r>
          </a:p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（準則 §14）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331720"/>
            <a:ext cx="3749039" cy="320040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成員 ≥ 3 人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外部專業人士 ≥ 1/2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任一性別比例 ≥ 1/3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內部成員須完成 3 小時防治訓練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188720"/>
            <a:ext cx="3749039" cy="10972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申復調查小組</a:t>
            </a:r>
          </a:p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（準則 §22）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2331720"/>
            <a:ext cx="3749039" cy="3200400"/>
          </a:xfrm>
          <a:prstGeom prst="rect">
            <a:avLst/>
          </a:prstGeom>
          <a:solidFill>
            <a:srgbClr val="FCE4D6"/>
          </a:solidFill>
          <a:ln w="9525">
            <a:solidFill>
              <a:srgbClr val="ED7D31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成員 ≥ 3 人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外部專業人士 ≥ 2/3（100 人以上）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任一性別比例 ≥ 1/3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★ 自勞動部專業人才庫遴選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教育訓練法定要求（準則 §6 III/IV、§14 IV）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14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834640" cy="8229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全體員工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834640" cy="3200400"/>
          </a:xfrm>
          <a:prstGeom prst="rect">
            <a:avLst/>
          </a:prstGeom>
          <a:solidFill>
            <a:srgbClr val="DAE6F2"/>
          </a:solidFill>
          <a:ln w="9525">
            <a:solidFill>
              <a:srgbClr val="1F4E79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認識霸凌、樣態、申訴管道</a:t>
            </a:r>
          </a:p>
          <a:p>
            <a:pPr algn="l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職場壓力與情緒管理、平權概念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280160"/>
            <a:ext cx="2834640" cy="82296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各級主管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148840"/>
            <a:ext cx="2834640" cy="320040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＋ 溝通技巧、領導管理</a:t>
            </a:r>
          </a:p>
          <a:p>
            <a:pPr algn="l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申訴事件處理、避免成為加害者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280160"/>
            <a:ext cx="2834640" cy="8229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調查相關人員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148840"/>
            <a:ext cx="2834640" cy="3200400"/>
          </a:xfrm>
          <a:prstGeom prst="rect">
            <a:avLst/>
          </a:prstGeom>
          <a:solidFill>
            <a:srgbClr val="FCE4D6"/>
          </a:solidFill>
          <a:ln w="9525">
            <a:solidFill>
              <a:srgbClr val="ED7D31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法規倫理、調查策略、報告撰寫</a:t>
            </a:r>
          </a:p>
          <a:p>
            <a:pPr algn="l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內部 3 小時、外部 6~12 小時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144" y="1280160"/>
            <a:ext cx="2834640" cy="822960"/>
          </a:xfrm>
          <a:prstGeom prst="roundRect">
            <a:avLst/>
          </a:prstGeom>
          <a:solidFill>
            <a:srgbClr val="7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數位學習平台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3144" y="2148840"/>
            <a:ext cx="2834640" cy="3200400"/>
          </a:xfrm>
          <a:prstGeom prst="rect">
            <a:avLst/>
          </a:prstGeom>
          <a:solidFill>
            <a:srgbClr val="E6D7F0"/>
          </a:solidFill>
          <a:ln w="9525">
            <a:solidFill>
              <a:srgbClr val="7B4FA0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勞動部「職業安全衛生數位學習平台」</a:t>
            </a:r>
          </a:p>
          <a:p>
            <a:pPr algn="l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https://isafeel.osha.gov.tw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ea typeface="微軟正黑體"/>
                <a:cs typeface="微軟正黑體"/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ea typeface="微軟正黑體"/>
                <a:cs typeface="微軟正黑體"/>
              </a:rPr>
              <a:t>申訴調查處理程序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申訴受理及處理流程（100 人以上適用）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16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46304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Step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005840"/>
            <a:ext cx="5029200" cy="59436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勞工提出申訴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005840"/>
            <a:ext cx="4572000" cy="5943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A83E2E"/>
                </a:solidFill>
                <a:ea typeface="微軟正黑體"/>
                <a:cs typeface="微軟正黑體"/>
              </a:rPr>
              <a:t>書面 / 言詞 / 電子郵件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73352"/>
            <a:ext cx="146304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Step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1673352"/>
            <a:ext cx="5029200" cy="59436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判定是否受理並書面通知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673352"/>
            <a:ext cx="4572000" cy="5943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A83E2E"/>
                </a:solidFill>
                <a:ea typeface="微軟正黑體"/>
                <a:cs typeface="微軟正黑體"/>
              </a:rPr>
              <a:t>10 個工作日內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40864"/>
            <a:ext cx="146304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Step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2340864"/>
            <a:ext cx="5029200" cy="59436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登錄勞動部通報系統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340864"/>
            <a:ext cx="4572000" cy="5943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A83E2E"/>
                </a:solidFill>
                <a:ea typeface="微軟正黑體"/>
                <a:cs typeface="微軟正黑體"/>
              </a:rPr>
              <a:t>受理翌日起 7 個工作日內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08376"/>
            <a:ext cx="146304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Step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3008376"/>
            <a:ext cx="5029200" cy="59436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組成調查小組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008376"/>
            <a:ext cx="4572000" cy="5943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A83E2E"/>
                </a:solidFill>
                <a:ea typeface="微軟正黑體"/>
                <a:cs typeface="微軟正黑體"/>
              </a:rPr>
              <a:t>受理申訴日起 15 個工作日內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75887"/>
            <a:ext cx="146304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Step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675887"/>
            <a:ext cx="5029200" cy="59436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完成調查報告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675887"/>
            <a:ext cx="4572000" cy="5943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A83E2E"/>
                </a:solidFill>
                <a:ea typeface="微軟正黑體"/>
                <a:cs typeface="微軟正黑體"/>
              </a:rPr>
              <a:t>調查小組成立翌日起 2 個月內（延長 1 個月）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43400"/>
            <a:ext cx="146304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Step 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4343400"/>
            <a:ext cx="5029200" cy="59436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審議作成成立與否決定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343400"/>
            <a:ext cx="4572000" cy="5943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A83E2E"/>
                </a:solidFill>
                <a:ea typeface="微軟正黑體"/>
                <a:cs typeface="微軟正黑體"/>
              </a:rPr>
              <a:t>調查報告完成日起 1 個月內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10912"/>
            <a:ext cx="146304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cs typeface="微軟正黑體"/>
              </a:rPr>
              <a:t>Step 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5010912"/>
            <a:ext cx="5029200" cy="594360"/>
          </a:xfrm>
          <a:prstGeom prst="roundRect">
            <a:avLst/>
          </a:prstGeom>
          <a:solidFill>
            <a:srgbClr val="DA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  <a:ea typeface="微軟正黑體"/>
                <a:cs typeface="微軟正黑體"/>
              </a:rPr>
              <a:t>書面通知 + 登錄系統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010912"/>
            <a:ext cx="4572000" cy="5943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A83E2E"/>
                </a:solidFill>
                <a:ea typeface="微軟正黑體"/>
                <a:cs typeface="微軟正黑體"/>
              </a:rPr>
              <a:t>決定後 10 個工作日內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2648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ea typeface="微軟正黑體"/>
                <a:cs typeface="微軟正黑體"/>
              </a:rPr>
              <a:t>※ 協調期間不計入調查期限；29 人以下 3 個月內、30~99 人 4 個月內作成決定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協調機制（準則 §13）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17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286000" cy="77724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① 啟動條件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80160"/>
            <a:ext cx="8686800" cy="77724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申訴人有意願者，徵詢同意後啟動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21991"/>
            <a:ext cx="2286000" cy="77724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② 協調人員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21991"/>
            <a:ext cx="8686800" cy="77724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安排內部適當人員或外部專業（律師／心理諮商師）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63824"/>
            <a:ext cx="2286000" cy="77724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③ 進行期限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163824"/>
            <a:ext cx="8686800" cy="77724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任一方無意願 或 逾 1 個月未共識應停止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05656"/>
            <a:ext cx="2286000" cy="77724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④ 協調成立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105656"/>
            <a:ext cx="8686800" cy="77724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作成合意書（附錄 7），10 工作日內登錄系統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47488"/>
            <a:ext cx="2286000" cy="77724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⑤ 協調不成立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047488"/>
            <a:ext cx="8686800" cy="77724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應續行調查並採取其他立即有效之適當措施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調查程序共通 5 大原則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18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2402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224028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客觀公正公平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224028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準則 §12</a:t>
            </a:r>
          </a:p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保護當事人隱私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188720"/>
            <a:ext cx="22402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2011680"/>
            <a:ext cx="224028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利益迴避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697480"/>
            <a:ext cx="224028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準則 §15</a:t>
            </a:r>
          </a:p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四親等內血親</a:t>
            </a:r>
          </a:p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三親等內姻親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1188720"/>
            <a:ext cx="22402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2011680"/>
            <a:ext cx="224028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不公開保密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2697480"/>
            <a:ext cx="224028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簽署利益迴避暨</a:t>
            </a:r>
          </a:p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保密協定切結書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0064" y="1188720"/>
            <a:ext cx="22402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0064" y="2011680"/>
            <a:ext cx="224028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錄音錄影輔助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2697480"/>
            <a:ext cx="224028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訪談前書面通知</a:t>
            </a:r>
          </a:p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禁止對質</a:t>
            </a:r>
          </a:p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給予答辯機會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74352" y="1188720"/>
            <a:ext cx="22402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ea typeface="微軟正黑體"/>
                <a:cs typeface="微軟正黑體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74352" y="2011680"/>
            <a:ext cx="224028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保護當事人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352" y="2697480"/>
            <a:ext cx="224028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禁止報復</a:t>
            </a:r>
          </a:p>
          <a:p>
            <a:pPr algn="ctr"/>
            <a:r>
              <a:rPr sz="1400" b="0">
                <a:solidFill>
                  <a:srgbClr val="101010"/>
                </a:solidFill>
                <a:ea typeface="微軟正黑體"/>
                <a:cs typeface="微軟正黑體"/>
              </a:rPr>
              <a:t>禁止不利對待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調查報告必備 5 項內容（準則 §17）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19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914400" cy="82296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188720"/>
            <a:ext cx="4572000" cy="8229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1F4E79"/>
                </a:solidFill>
                <a:ea typeface="微軟正黑體"/>
                <a:cs typeface="微軟正黑體"/>
              </a:rPr>
              <a:t>申訴事件之案由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88720"/>
            <a:ext cx="5669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包括申訴人之申訴要旨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914400" cy="82296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103120"/>
            <a:ext cx="4572000" cy="8229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1F4E79"/>
                </a:solidFill>
                <a:ea typeface="微軟正黑體"/>
                <a:cs typeface="微軟正黑體"/>
              </a:rPr>
              <a:t>調查訪談過程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5669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包括日期、訪談對象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914400" cy="82296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017520"/>
            <a:ext cx="4572000" cy="8229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1F4E79"/>
                </a:solidFill>
                <a:ea typeface="微軟正黑體"/>
                <a:cs typeface="微軟正黑體"/>
              </a:rPr>
              <a:t>當事人及相關人員陳述重點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017520"/>
            <a:ext cx="5669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證人及相關人員陳述要點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914400" cy="82296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3931920"/>
            <a:ext cx="4572000" cy="8229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1F4E79"/>
                </a:solidFill>
                <a:ea typeface="微軟正黑體"/>
                <a:cs typeface="微軟正黑體"/>
              </a:rPr>
              <a:t>事實認定與理由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931920"/>
            <a:ext cx="5669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採信／不採信之理由、物證查驗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914400" cy="82296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ea typeface="微軟正黑體"/>
                <a:cs typeface="微軟正黑體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4846320"/>
            <a:ext cx="4572000" cy="8229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1F4E79"/>
                </a:solidFill>
                <a:ea typeface="微軟正黑體"/>
                <a:cs typeface="微軟正黑體"/>
              </a:rPr>
              <a:t>處理建議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846320"/>
            <a:ext cx="5669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懲處建議 + 預防措施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3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ea typeface="微軟正黑體"/>
                <a:cs typeface="微軟正黑體"/>
              </a:rPr>
              <a:t>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ea typeface="微軟正黑體"/>
                <a:cs typeface="微軟正黑體"/>
              </a:rPr>
              <a:t>申復機制與懲處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申復救濟機制（準則 §22-§24）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21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56032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30 日內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097280"/>
            <a:ext cx="868680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當事人不服 → 書面具明理由申復（一次為限）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256032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10 工作日內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28800"/>
            <a:ext cx="868680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召開申復審議會議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256032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如有重大瑕疵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60320"/>
            <a:ext cx="868680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組成申復調查小組（外部專業 ≥ 2/3、性別 ≥ 1/3）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39"/>
            <a:ext cx="256032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30 日內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91839"/>
            <a:ext cx="868680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作成附理由決定（再行調查可再展延 30 日）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59"/>
            <a:ext cx="256032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10 工作日內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023359"/>
            <a:ext cx="868680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書面通知申復人及相對人並登錄系統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256032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不服申復結果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754879"/>
            <a:ext cx="868680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逕向法院或主管機關尋求救濟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對行為人懲處原則（準則 §19）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22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4864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◆ 情節輕重判斷因素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DAE6F2"/>
          </a:solidFill>
          <a:ln w="9525">
            <a:solidFill>
              <a:srgbClr val="1F4E79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◆ 對申訴人身心侵害程度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◆ 行為次數、頻率、手段、是否重複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◆ 是否曾經勸導、調處後仍再為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◆ 與申訴人之關係、違反後態度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◆ 過往有無類似行為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◆ 對事業單位所生危害及影響範圍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486400" cy="73152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FFFFFF"/>
                </a:solidFill>
                <a:ea typeface="微軟正黑體"/>
                <a:cs typeface="微軟正黑體"/>
              </a:rPr>
              <a:t>◆ 懲處方式分級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5486400" cy="4114800"/>
          </a:xfrm>
          <a:prstGeom prst="rect">
            <a:avLst/>
          </a:prstGeom>
          <a:solidFill>
            <a:srgbClr val="FCE4D6"/>
          </a:solidFill>
          <a:ln w="9525">
            <a:solidFill>
              <a:srgbClr val="A83E2E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較輕：口頭警告、書面警告、申誡、</a:t>
            </a: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        記過、參加講習</a:t>
            </a:r>
          </a:p>
          <a:p>
            <a:pPr algn="l"/>
            <a:endParaRPr sz="1500" b="0">
              <a:solidFill>
                <a:srgbClr val="101010"/>
              </a:solidFill>
              <a:ea typeface="微軟正黑體"/>
              <a:cs typeface="微軟正黑體"/>
            </a:endParaRP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涉刑事：得依勞基法 §12 終止契約</a:t>
            </a:r>
          </a:p>
          <a:p>
            <a:pPr algn="l"/>
            <a:endParaRPr sz="1500" b="0">
              <a:solidFill>
                <a:srgbClr val="101010"/>
              </a:solidFill>
              <a:ea typeface="微軟正黑體"/>
              <a:cs typeface="微軟正黑體"/>
            </a:endParaRP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再犯／報復：加重懲處</a:t>
            </a:r>
          </a:p>
          <a:p>
            <a:pPr algn="l"/>
            <a:endParaRPr sz="1500" b="0">
              <a:solidFill>
                <a:srgbClr val="101010"/>
              </a:solidFill>
              <a:ea typeface="微軟正黑體"/>
              <a:cs typeface="微軟正黑體"/>
            </a:endParaRPr>
          </a:p>
          <a:p>
            <a:pPr algn="l"/>
            <a:r>
              <a:rPr sz="1500" b="0">
                <a:solidFill>
                  <a:srgbClr val="101010"/>
                </a:solidFill>
                <a:ea typeface="微軟正黑體"/>
                <a:cs typeface="微軟正黑體"/>
              </a:rPr>
              <a:t>已離職者：不在此限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申訴者保護與紀錄保存（準則 §20、§25、§26）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23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49039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● 不利對待禁止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749039" cy="8686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ea typeface="微軟正黑體"/>
                <a:cs typeface="微軟正黑體"/>
              </a:rPr>
              <a:t>禁止解僱、降調、減薪等不利處分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188720"/>
            <a:ext cx="3749039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● 惡意虛構懲處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1828800"/>
            <a:ext cx="3749039" cy="8686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ea typeface="微軟正黑體"/>
                <a:cs typeface="微軟正黑體"/>
              </a:rPr>
              <a:t>經查證屬實應為適當懲戒或處理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188720"/>
            <a:ext cx="3749039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● 事後追蹤考核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828800"/>
            <a:ext cx="3749039" cy="8686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ea typeface="微軟正黑體"/>
                <a:cs typeface="微軟正黑體"/>
              </a:rPr>
              <a:t>監督懲處措施有效執行、防止報復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3749039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● 紀錄保存 3 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3749039" cy="8686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ea typeface="微軟正黑體"/>
                <a:cs typeface="微軟正黑體"/>
              </a:rPr>
              <a:t>預防／申訴／調查／申復紀錄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743200"/>
            <a:ext cx="3749039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● 派遣／承攬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3383280"/>
            <a:ext cx="3749039" cy="8686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ea typeface="微軟正黑體"/>
                <a:cs typeface="微軟正黑體"/>
              </a:rPr>
              <a:t>要派單位納入防治；共同調查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2743200"/>
            <a:ext cx="3749039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● 性騷擾競合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3383280"/>
            <a:ext cx="3749039" cy="8686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  <a:ea typeface="微軟正黑體"/>
                <a:cs typeface="微軟正黑體"/>
              </a:rPr>
              <a:t>程序分軌、事實合併調查（QA Q7）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ea typeface="微軟正黑體"/>
                <a:cs typeface="微軟正黑體"/>
              </a:rP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ea typeface="微軟正黑體"/>
                <a:cs typeface="微軟正黑體"/>
              </a:rPr>
              <a:t>案例研討與 Q&amp;A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案例研討 1：要求過高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25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82880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◆ 情境描述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77295" cy="1828800"/>
          </a:xfrm>
          <a:prstGeom prst="rect">
            <a:avLst/>
          </a:prstGeom>
          <a:solidFill>
            <a:srgbClr val="F2F2F2"/>
          </a:solidFill>
          <a:ln w="9525">
            <a:solidFill>
              <a:srgbClr val="ED7D31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「A 主管下班前要求未受過外文訓練的工程師小明，隔日早上 9 點提交</a:t>
            </a:r>
          </a:p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完整德文版客戶合約，否則記過。」</a:t>
            </a:r>
          </a:p>
          <a:p>
            <a:pPr algn="l"/>
            <a:endParaRPr sz="1700" b="0">
              <a:solidFill>
                <a:srgbClr val="101010"/>
              </a:solidFill>
              <a:ea typeface="微軟正黑體"/>
              <a:cs typeface="微軟正黑體"/>
            </a:endParaRPr>
          </a:p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討論：是否符合職場霸凌定義？屬何種樣態？主管應如何避免？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828800" cy="64008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◆ 解析重點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77295" cy="182880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屬「權力濫用」型霸凌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同時違反「時間上要求過高」與「能力上要求過高」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已逾越業務上必要且合理範圍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若持續發生或情節重大，即可成立職場霸凌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主管應評估部屬能力、給予合理時程或培訓資源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案例研討 2：社交排斥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26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828800" cy="6400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◆ 情境描述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77295" cy="1828800"/>
          </a:xfrm>
          <a:prstGeom prst="rect">
            <a:avLst/>
          </a:prstGeom>
          <a:solidFill>
            <a:srgbClr val="F2F2F2"/>
          </a:solidFill>
          <a:ln w="9525">
            <a:solidFill>
              <a:srgbClr val="C00000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「B 主管刻意不將員工小華加入部門 LINE 工作群組，所有重要會議</a:t>
            </a:r>
          </a:p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都不通知小華參加，長達 6 個月。」</a:t>
            </a:r>
          </a:p>
          <a:p>
            <a:pPr algn="l"/>
            <a:endParaRPr sz="1700" b="0">
              <a:solidFill>
                <a:srgbClr val="101010"/>
              </a:solidFill>
              <a:ea typeface="微軟正黑體"/>
              <a:cs typeface="微軟正黑體"/>
            </a:endParaRPr>
          </a:p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討論：屬何種樣態？雇主知悉後應如何處理？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828800" cy="64008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◆ 解析重點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77295" cy="182880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同時屬「社交排斥」+「職務干預」（隱瞞工作資訊）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持續 6 個月，已成立持續性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雇主知悉後應立即採取隔離措施、提供 EAP 協助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申訴人有意願者可進行協調，否則啟動調查程序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不得對申訴人有不利對待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案例研討 3：性騷擾與職場霸凌競合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27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828800" cy="640080"/>
          </a:xfrm>
          <a:prstGeom prst="roundRect">
            <a:avLst/>
          </a:prstGeom>
          <a:solidFill>
            <a:srgbClr val="7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◆ 情境描述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77295" cy="1828800"/>
          </a:xfrm>
          <a:prstGeom prst="rect">
            <a:avLst/>
          </a:prstGeom>
          <a:solidFill>
            <a:srgbClr val="F2F2F2"/>
          </a:solidFill>
          <a:ln w="9525">
            <a:solidFill>
              <a:srgbClr val="7B4FA0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「C 部門主管除以言語貶損外，亦對部屬 D 為涉及性別的不當言論。」</a:t>
            </a:r>
          </a:p>
          <a:p>
            <a:pPr algn="l"/>
            <a:endParaRPr sz="1700" b="0">
              <a:solidFill>
                <a:srgbClr val="101010"/>
              </a:solidFill>
              <a:ea typeface="微軟正黑體"/>
              <a:cs typeface="微軟正黑體"/>
            </a:endParaRPr>
          </a:p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討論：如何處理同時涉及兩種法規的案件？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828800" cy="64008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ea typeface="微軟正黑體"/>
                <a:cs typeface="微軟正黑體"/>
              </a:rPr>
              <a:t>◆ 解析重點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77295" cy="182880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程序分軌：分別依《職場霸凌防治措施準則》及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   《工作場所性騷擾防治措施準則》辦理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事實合併調查：合併安排訪談避免重複詢問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調查成員可作適當調整以同時符合不同法規要求</a:t>
            </a:r>
          </a:p>
          <a:p>
            <a:pPr algn="l"/>
            <a:r>
              <a:rPr sz="1600" b="0">
                <a:solidFill>
                  <a:srgbClr val="101010"/>
                </a:solidFill>
                <a:ea typeface="微軟正黑體"/>
                <a:cs typeface="微軟正黑體"/>
              </a:rPr>
              <a:t>◆ 依各該法規程序分別完成調查報告與認定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本行內部資源與聯絡窗口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28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45720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✉ 申訴電子信箱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188720"/>
            <a:ext cx="6675120" cy="6400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>
                <a:solidFill>
                  <a:srgbClr val="101010"/>
                </a:solidFill>
                <a:ea typeface="微軟正黑體"/>
                <a:cs typeface="微軟正黑體"/>
              </a:rPr>
              <a:t>harassment@bank.com.tw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45720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☎ 申訴專線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65960"/>
            <a:ext cx="6675120" cy="6400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>
                <a:solidFill>
                  <a:srgbClr val="101010"/>
                </a:solidFill>
                <a:ea typeface="微軟正黑體"/>
                <a:cs typeface="微軟正黑體"/>
              </a:rPr>
              <a:t>(02) 0000-0000 分機 ○○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45720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✉ 專用信箱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43200"/>
            <a:ext cx="6675120" cy="6400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>
                <a:solidFill>
                  <a:srgbClr val="101010"/>
                </a:solidFill>
                <a:ea typeface="微軟正黑體"/>
                <a:cs typeface="微軟正黑體"/>
              </a:rPr>
              <a:t>總行人力資源處 ○○ 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45720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▣ 內部通報系統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520440"/>
            <a:ext cx="6675120" cy="6400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>
                <a:solidFill>
                  <a:srgbClr val="101010"/>
                </a:solidFill>
                <a:ea typeface="微軟正黑體"/>
                <a:cs typeface="微軟正黑體"/>
              </a:rPr>
              <a:t>iBank → HR → 職場霸凌申訴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45720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✚ 員工協助方案（EAP）窗口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297680"/>
            <a:ext cx="6675120" cy="6400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>
                <a:solidFill>
                  <a:srgbClr val="101010"/>
                </a:solidFill>
                <a:ea typeface="微軟正黑體"/>
                <a:cs typeface="微軟正黑體"/>
              </a:rPr>
              <a:t>(02) 0000-0000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74920"/>
            <a:ext cx="457200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◎ 法令遵循處諮詢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074920"/>
            <a:ext cx="6675120" cy="640080"/>
          </a:xfrm>
          <a:prstGeom prst="rect">
            <a:avLst/>
          </a:prstGeom>
          <a:solidFill>
            <a:srgbClr val="DAE6F2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1">
                <a:solidFill>
                  <a:srgbClr val="101010"/>
                </a:solidFill>
                <a:ea typeface="微軟正黑體"/>
                <a:cs typeface="微軟正黑體"/>
              </a:rPr>
              <a:t>(02) 0000-0000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ea typeface="微軟正黑體"/>
                <a:cs typeface="微軟正黑體"/>
              </a:rPr>
              <a:t>外部求助與諮詢資源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537960"/>
            <a:ext cx="114300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○○商業銀行  ｜  職場霸凌防治教育訓練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ea typeface="微軟正黑體"/>
                <a:cs typeface="微軟正黑體"/>
              </a:rPr>
              <a:t>29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457200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☎ 1925 安心專線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188720"/>
            <a:ext cx="667512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24 小時情緒困擾諮詢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457200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☎ 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65960"/>
            <a:ext cx="667512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報警／110 視訊報案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457200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☎ 1955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43200"/>
            <a:ext cx="667512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勞動法令諮詢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457200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☎ 0800-068-580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520440"/>
            <a:ext cx="667512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職災預防重建中心（霸凌諮詢）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457200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▣ 勞動部職場霸凌防治專區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297680"/>
            <a:ext cx="667512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指導手冊、範本、數位學習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74920"/>
            <a:ext cx="4572000" cy="640080"/>
          </a:xfrm>
          <a:prstGeom prst="roundRect">
            <a:avLst/>
          </a:prstGeom>
          <a:solidFill>
            <a:srgbClr val="A8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1">
                <a:solidFill>
                  <a:srgbClr val="FFFFFF"/>
                </a:solidFill>
                <a:ea typeface="微軟正黑體"/>
                <a:cs typeface="微軟正黑體"/>
              </a:rPr>
              <a:t>▣ 勞動部專業人才資料庫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074920"/>
            <a:ext cx="6675120" cy="6400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ea typeface="微軟正黑體"/>
                <a:cs typeface="微軟正黑體"/>
              </a:rPr>
              <a:t>遴選外部調查專業人士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ea typeface="微軟正黑體"/>
                <a:cs typeface="微軟正黑體"/>
              </a:rPr>
              <a:t>結語：共同打造友善職場</a:t>
            </a:r>
          </a:p>
        </p:txBody>
      </p:sp>
      <p:sp>
        <p:nvSpPr>
          <p:cNvPr id="4" name="Oval 3"/>
          <p:cNvSpPr/>
          <p:nvPr/>
        </p:nvSpPr>
        <p:spPr>
          <a:xfrm>
            <a:off x="1828800" y="2011680"/>
            <a:ext cx="1554480" cy="1554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1F4E79"/>
                </a:solidFill>
                <a:ea typeface="微軟正黑體"/>
                <a:cs typeface="微軟正黑體"/>
              </a:rP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cs typeface="微軟正黑體"/>
              </a:rPr>
              <a:t>預防重於處理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ea typeface="微軟正黑體"/>
                <a:cs typeface="微軟正黑體"/>
              </a:rPr>
              <a:t>建立制度、源頭管理</a:t>
            </a:r>
          </a:p>
        </p:txBody>
      </p:sp>
      <p:sp>
        <p:nvSpPr>
          <p:cNvPr id="7" name="Oval 6"/>
          <p:cNvSpPr/>
          <p:nvPr/>
        </p:nvSpPr>
        <p:spPr>
          <a:xfrm>
            <a:off x="5669280" y="2011680"/>
            <a:ext cx="1554480" cy="1554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1F4E79"/>
                </a:solidFill>
                <a:ea typeface="微軟正黑體"/>
                <a:cs typeface="微軟正黑體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49039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cs typeface="微軟正黑體"/>
              </a:rPr>
              <a:t>公正調查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2062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ea typeface="微軟正黑體"/>
                <a:cs typeface="微軟正黑體"/>
              </a:rPr>
              <a:t>保護當事人權益</a:t>
            </a:r>
          </a:p>
        </p:txBody>
      </p:sp>
      <p:sp>
        <p:nvSpPr>
          <p:cNvPr id="10" name="Oval 9"/>
          <p:cNvSpPr/>
          <p:nvPr/>
        </p:nvSpPr>
        <p:spPr>
          <a:xfrm>
            <a:off x="9509760" y="2011680"/>
            <a:ext cx="1554480" cy="1554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1F4E79"/>
                </a:solidFill>
                <a:ea typeface="微軟正黑體"/>
                <a:cs typeface="微軟正黑體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749039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cs typeface="微軟正黑體"/>
              </a:rPr>
              <a:t>友善文化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2062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ea typeface="微軟正黑體"/>
                <a:cs typeface="微軟正黑體"/>
              </a:rPr>
              <a:t>尊重信任、共同維護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ea typeface="微軟正黑體"/>
                <a:cs typeface="微軟正黑體"/>
              </a:rPr>
              <a:t>「讓企業有所依循，讓勞工有所保障」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ea typeface="微軟正黑體"/>
                <a:cs typeface="微軟正黑體"/>
              </a:rPr>
              <a:t>★ 感謝聆聽 ｜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8933c00-c18b-49db-92d5-e6deaeecfc2c}" enabled="1" method="Standard" siteId="{c7da88d7-c903-4214-ba1c-7a1e8a6d0b0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30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1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2026-06-30T05:40:56Z</dcterms:modified>
  <cp:category/>
</cp:coreProperties>
</file>